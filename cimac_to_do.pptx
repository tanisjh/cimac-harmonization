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84" r:id="rId4"/>
    <p:sldId id="285" r:id="rId5"/>
    <p:sldId id="2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5"/>
  </p:normalViewPr>
  <p:slideViewPr>
    <p:cSldViewPr snapToGrid="0">
      <p:cViewPr varScale="1">
        <p:scale>
          <a:sx n="102" d="100"/>
          <a:sy n="102" d="100"/>
        </p:scale>
        <p:origin x="11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F0E-C899-C805-6D38-7623798B1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F685F-1B95-F36C-BF3C-FC154A6E4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DB7B1-5B85-55B3-A2D2-BF651919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C3D15-2396-E803-60BF-8770DCF8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3478-D1F4-C62F-AA9F-228A8014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25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691D-579D-2E3F-E302-F84B8359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0AA3A-EDC2-2E80-587C-6EA9CF906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DB5F1-537A-36B0-1580-F3E19D1B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CABE2-315A-5168-5B54-BE4B85E2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A2D9A-6E5F-F588-8B01-C670E337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6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62DBF-EFFE-72BF-892C-F4B434809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3FA79-F0BD-E373-DB9F-60A3284D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1FF9C-DE13-F216-2489-042CD65C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6FE23-9A44-2984-CC6F-759CBC45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4FE34-037E-B0DD-0244-63A559ED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63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F443-6018-11C2-F730-3D8028B1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007A-0EC5-6F6E-4F6A-E624A2817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26D7A-9371-EE5C-8EEA-C3352FA21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5D672-42C4-344A-D992-6BC2189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0D4F3-CB41-5ACF-746E-43DEF0BD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E8B72-DE39-203B-13FB-D8087131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27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C9A7-8145-9D5F-F41A-36AAC0788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CED41-DFC5-503B-9510-19C3F05EA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4F33C-D466-A157-34F2-D8B3D5B98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4C2A6-24F2-E207-C445-9E06E1696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40CB4A-E45B-B934-C594-8FD744B3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0390F-03F4-F48F-C207-AC5AF900B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6E6A3-EA8F-B342-2C0B-AC96E38C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2B908-2373-FBD0-1DE4-F8A24ABC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0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1782-64F9-A81D-739C-8AA30426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83DA0-EAAF-2949-97AD-44C8D524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70115-A757-0911-5242-B9A68AEB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ABD8D-FC20-EDD8-5E79-501FE546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6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7700B-639E-A9F0-9EB2-075E8DB3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34D6A3-EC53-5BF1-A794-BF2E17801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ED0C4-1793-3914-04E2-47CAA68D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EA35-D29D-C3BE-1D25-674374A53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E6FD9-1CC9-2AAB-6407-52ED58748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0C2CC-D2C2-992B-E6F3-8B1CFAF5A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6C1D7-D3CD-FD49-3835-90135F7C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A81FC-F8C5-AB94-5E79-9014322C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4FEE-3EE5-07B0-33FA-F1F864AF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8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6CB4E-A8BF-751F-83AB-8A1CA09E5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32913-DAA6-EED4-A11A-31C29308D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13F7F-B1BC-E3FD-E651-D241B0404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EC6DF-C72F-CCD6-3585-44A0C4FC1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8D432-89EF-A61C-7E34-1E838AC1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1C08F-AC55-1EE8-F1C6-572D015B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5DB06-7471-40C2-5615-56B96E59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9CE78-9D91-A73E-D5F9-E5D1DECE4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39930-5AA8-F9C5-86D7-E35003FD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F237D-F902-5D03-054F-EA0CA4F0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0E9F2-2B3F-AC25-7318-8DB2CD05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36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128EA-D9C8-C13A-CBB9-D4EE5B36C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FFBAA-5040-55A7-6817-E93F3F321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1CC1D-A933-2924-98CD-5CA9D891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9C884-6C7D-B5BC-80FA-142463BF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04C1A-F48B-3124-9684-EE1DE949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0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3465D6-7152-A2E5-B6A7-46B31297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D5C0E-2FA5-74BE-F6F4-49FD8A300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327FE-41D8-0204-01D4-9A2326555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90E9E-7864-BD4A-8FF3-6CC3C102F482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1E32F-1DFE-0604-4FE5-F16B61A58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598F0-3742-66D8-9E94-8ABDCE659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1AB84-E04E-F44D-B535-8216B5EE5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0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A82E-12B5-95B4-E48B-3E0BE1D70E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 DO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1CBF7-ABC8-3F45-6024-55599CC41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2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C58D-0B9C-5536-6077-6C952FE6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800" b="0" dirty="0">
                <a:latin typeface="Arial"/>
              </a:rPr>
              <a:t>Rules implemented; reviewer confirmation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78992"/>
            <a:ext cx="9598910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600" b="1" dirty="0">
                <a:solidFill>
                  <a:srgbClr val="1F4E79"/>
                </a:solidFill>
                <a:latin typeface="Arial"/>
              </a:rPr>
              <a:t>Three high-impact rules are already in code; reviewers are being asked to confirm them clinically.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90792"/>
          <a:ext cx="109728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pfs_bin</a:t>
                      </a:r>
                      <a:r>
                        <a:rPr sz="1600" b="1" dirty="0">
                          <a:solidFill>
                            <a:srgbClr val="000000"/>
                          </a:solidFill>
                          <a:latin typeface="Arial"/>
                        </a:rPr>
                        <a:t>
120-day landmark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All 2,000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pfs_bin = 1 if pfs_time ≥ 120;
0 if pfs_time &lt; 120 and pfs_stat = 1;
NA if pfs_time &lt; 120 and pfs_stat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Confirm 120-day landmark vs SAP / intended analysis rule.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[confirmed: our rule is correct, so nothing for us to do]</a:t>
                      </a:r>
                      <a:endParaRPr sz="16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bor_bin
120-day SD landmark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All 2,000 rows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bor_bin = 1 if BOR.binary = R OR
(SD and pfs_time ≥ 120);
0 if NR OR (SD and pfs_time &lt; 120); NA otherwise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Confirm 120-day SD landmark.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[confirmed: our rule is correct, so nothing for us to do]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0000"/>
                          </a:solidFill>
                          <a:latin typeface="Arial"/>
                        </a:rPr>
                        <a:t>10026
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CRm</a:t>
                      </a:r>
                      <a:r>
                        <a:rPr sz="1600" b="1" dirty="0">
                          <a:solidFill>
                            <a:srgbClr val="000000"/>
                          </a:solidFill>
                          <a:latin typeface="Arial"/>
                        </a:rPr>
                        <a:t> / </a:t>
                      </a:r>
                      <a:r>
                        <a:rPr sz="1600" b="1" dirty="0" err="1">
                          <a:solidFill>
                            <a:srgbClr val="000000"/>
                          </a:solidFill>
                          <a:latin typeface="Arial"/>
                        </a:rPr>
                        <a:t>CRi</a:t>
                      </a:r>
                      <a:r>
                        <a:rPr sz="1600" b="1" dirty="0">
                          <a:solidFill>
                            <a:srgbClr val="000000"/>
                          </a:solidFill>
                          <a:latin typeface="Arial"/>
                        </a:rPr>
                        <a:t> → R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10026; 36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CRm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 and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CRi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 map to R in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BOR.binary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.
Data Dictionary supports complete-remission subtype interpretation.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Keep R-mapping or preserve Edgar’s literal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CRm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 /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rial"/>
                        </a:rPr>
                        <a:t>CRi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rial"/>
                        </a:rPr>
                        <a:t> values?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</a:rPr>
                        <a:t>[confirmed: map to R, so nothing for us to do]</a:t>
                      </a:r>
                    </a:p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9410590" cy="270843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sz="1400" b="0" dirty="0">
                <a:solidFill>
                  <a:srgbClr val="595959"/>
                </a:solidFill>
                <a:latin typeface="Arial"/>
              </a:rPr>
              <a:t>These are not unresolved discrepancies. If confirmed, provenance notes can drop “pending final clinical confirmation.”</a:t>
            </a:r>
          </a:p>
        </p:txBody>
      </p:sp>
    </p:spTree>
    <p:extLst>
      <p:ext uri="{BB962C8B-B14F-4D97-AF65-F5344CB8AC3E}">
        <p14:creationId xmlns:p14="http://schemas.microsoft.com/office/powerpoint/2010/main" val="391138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A7E2-9FBA-CFB6-DC1C-B0948837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E56C-F9A0-D2DB-404D-58E12768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r>
              <a:rPr lang="en-US" sz="2800" dirty="0">
                <a:solidFill>
                  <a:srgbClr val="000000"/>
                </a:solidFill>
                <a:latin typeface="Aptos"/>
              </a:rPr>
              <a:t>Possible rule refinements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C3F27-B894-7E44-FA44-82EE6132A5AF}"/>
              </a:ext>
            </a:extLst>
          </p:cNvPr>
          <p:cNvSpPr txBox="1"/>
          <p:nvPr/>
        </p:nvSpPr>
        <p:spPr>
          <a:xfrm>
            <a:off x="841248" y="1078992"/>
            <a:ext cx="6379695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F4E79"/>
                </a:solidFill>
              </a:rPr>
              <a:t>Current code behavior compared with proposed reviewer decisions.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60DD43-FAB0-3FBB-79B3-C7A8C3790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709685"/>
              </p:ext>
            </p:extLst>
          </p:nvPr>
        </p:nvGraphicFramePr>
        <p:xfrm>
          <a:off x="777240" y="1790792"/>
          <a:ext cx="10972800" cy="3986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16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500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500">
                <a:tc>
                  <a:txBody>
                    <a:bodyPr/>
                    <a:lstStyle/>
                    <a:p>
                      <a:pPr algn="l"/>
                      <a:endParaRPr sz="1600" b="1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55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E4412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time conversion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e4412; ~19 affected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Current rule uses days = round(months × 30.4375).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Should this use int(months × 30.4375) truncation instead?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[yes, round.  James check this is done]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51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95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9C2E3-CE64-EA16-3FE3-6C2EF3F1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6B77-D404-5DD9-F722-FDDE111C2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r>
              <a:rPr lang="en-US" sz="2800" dirty="0">
                <a:solidFill>
                  <a:srgbClr val="000000"/>
                </a:solidFill>
                <a:latin typeface="Aptos"/>
              </a:rPr>
              <a:t>Template anomalies vs source-backed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6D72B-8E31-5E70-6D9D-73E56D97252C}"/>
              </a:ext>
            </a:extLst>
          </p:cNvPr>
          <p:cNvSpPr txBox="1"/>
          <p:nvPr/>
        </p:nvSpPr>
        <p:spPr>
          <a:xfrm>
            <a:off x="639453" y="1429721"/>
            <a:ext cx="8625246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F4E79"/>
                </a:solidFill>
              </a:rPr>
              <a:t>Decide whether to keep source-backed pipeline values or reproduce Edgar/template values.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629EB5-E83E-CDB9-D983-DB427F0A5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106264"/>
              </p:ext>
            </p:extLst>
          </p:nvPr>
        </p:nvGraphicFramePr>
        <p:xfrm>
          <a:off x="639453" y="1840897"/>
          <a:ext cx="11247120" cy="5083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72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10104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BOR / BOR.binary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10104; ~43 affected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Current rule uses source best_response.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Keep the source-backed value or reproduce Edgar/template values?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[James: re-name field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Aptos"/>
                        </a:rPr>
                        <a:t>clinical_benefit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 /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Aptos"/>
                        </a:rPr>
                        <a:t>clinical_benefit.binary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.  Use source-backed 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Aptos"/>
                        </a:rPr>
                        <a:t>value instead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of Edgar’s </a:t>
                      </a:r>
                      <a:r>
                        <a:rPr lang="en-US" sz="1600" b="1">
                          <a:solidFill>
                            <a:srgbClr val="000000"/>
                          </a:solidFill>
                          <a:latin typeface="Aptos"/>
                        </a:rPr>
                        <a:t>when discrepancy]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178876"/>
                  </a:ext>
                </a:extLst>
              </a:tr>
              <a:tr h="105517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9204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9204; 1 affected cell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Current rule uses source Age at Enrollment = 64.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Keep source-backed value or reproduce Edgar/template value 68?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[64 is correct.  James: check this is done]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818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7E032-3D30-2E2F-7DB6-9A6020D6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418D-9272-C564-C79D-2CA231F3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20040"/>
            <a:ext cx="11247120" cy="731520"/>
          </a:xfrm>
        </p:spPr>
        <p:txBody>
          <a:bodyPr tIns="0" bIns="0"/>
          <a:lstStyle/>
          <a:p>
            <a:r>
              <a:rPr lang="en-US" sz="2800" dirty="0">
                <a:solidFill>
                  <a:srgbClr val="000000"/>
                </a:solidFill>
                <a:latin typeface="Aptos"/>
              </a:rPr>
              <a:t>Missing data and small mapping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DCA39-4ABE-A106-6597-487CB82AEA23}"/>
              </a:ext>
            </a:extLst>
          </p:cNvPr>
          <p:cNvSpPr txBox="1"/>
          <p:nvPr/>
        </p:nvSpPr>
        <p:spPr>
          <a:xfrm>
            <a:off x="841248" y="1078992"/>
            <a:ext cx="5157309" cy="30162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r>
              <a:rPr lang="en-US" sz="1600" b="1" dirty="0">
                <a:solidFill>
                  <a:srgbClr val="1F4E79"/>
                </a:solidFill>
              </a:rPr>
              <a:t>External data gaps plus small mapping/config choices.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6DEDE9-981F-93A1-BB0B-17F56EBD1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798681"/>
              </p:ext>
            </p:extLst>
          </p:nvPr>
        </p:nvGraphicFramePr>
        <p:xfrm>
          <a:off x="640080" y="1408176"/>
          <a:ext cx="11247121" cy="5613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9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9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74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Reviewer confirmation needed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98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S1400I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CIMAC-s1400i; 561 affected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Decimal age is unavailable; pipeline emits NA.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Supply untruncated age, use integer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ptos"/>
                        </a:rPr>
                        <a:t>age_num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, or keep NA?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[use source value as integer, James: check this is done]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988"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549">
                <a:tc>
                  <a:txBody>
                    <a:bodyPr/>
                    <a:lstStyle/>
                    <a:p>
                      <a:pPr algn="l"/>
                      <a:endParaRPr sz="1600" b="1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24766"/>
                  </a:ext>
                </a:extLst>
              </a:tr>
              <a:tr h="73336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E4412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Unevaluable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e4412; 16 affected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Current rule exact-matches “Unevaluable” only.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Map any “Unevaluable [...]” to other?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[map to Other, James do this]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71609"/>
                  </a:ext>
                </a:extLst>
              </a:tr>
              <a:tr h="733361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9204</a:t>
                      </a:r>
                    </a:p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Aptos"/>
                        </a:rPr>
                        <a:t>race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9204; 2 affected cells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Current rule does not map source value “Other.”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Map Other → </a:t>
                      </a:r>
                      <a:r>
                        <a:rPr sz="1600" b="0" dirty="0" err="1">
                          <a:solidFill>
                            <a:srgbClr val="000000"/>
                          </a:solidFill>
                          <a:latin typeface="Aptos"/>
                        </a:rPr>
                        <a:t>unk</a:t>
                      </a:r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?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[map to Other,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Aptos"/>
                        </a:rPr>
                        <a:t>james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 do this]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41757"/>
                  </a:ext>
                </a:extLst>
              </a:tr>
              <a:tr h="733361"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000000"/>
                          </a:solidFill>
                          <a:latin typeface="Aptos"/>
                        </a:rPr>
                        <a:t>9204</a:t>
                      </a:r>
                    </a:p>
                    <a:p>
                      <a:pPr algn="l"/>
                      <a:r>
                        <a:rPr sz="1600" b="1" dirty="0" err="1">
                          <a:solidFill>
                            <a:srgbClr val="000000"/>
                          </a:solidFill>
                          <a:latin typeface="Aptos"/>
                        </a:rPr>
                        <a:t>Collection_Event_alt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9204; 2 affected cells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Aptos"/>
                        </a:rPr>
                        <a:t>Current rule maps Day_8 → Baseline.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0000"/>
                          </a:solidFill>
                          <a:latin typeface="Aptos"/>
                        </a:rPr>
                        <a:t>Map Day_8 → C2?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+mn-lt"/>
                        </a:rPr>
                        <a:t>james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+mn-lt"/>
                        </a:rPr>
                        <a:t> fix this: map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to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Aptos"/>
                        </a:rPr>
                        <a:t>first_sample_post_treatment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ptos"/>
                        </a:rPr>
                        <a:t>]</a:t>
                      </a:r>
                      <a:endParaRPr sz="1600" b="1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95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608</Words>
  <Application>Microsoft Macintosh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TO DO</vt:lpstr>
      <vt:lpstr>Rules implemented; reviewer confirmation requested</vt:lpstr>
      <vt:lpstr>Possible rule refinements</vt:lpstr>
      <vt:lpstr>Template anomalies vs source-backed values</vt:lpstr>
      <vt:lpstr>Missing data and small mapping decisions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Tanis, James (NIH/NCI) [C]</dc:creator>
  <cp:lastModifiedBy>Tanis, James (NIH/NCI) [C]</cp:lastModifiedBy>
  <cp:revision>4</cp:revision>
  <dcterms:created xsi:type="dcterms:W3CDTF">2026-05-20T22:12:52Z</dcterms:created>
  <dcterms:modified xsi:type="dcterms:W3CDTF">2026-05-20T22:26:15Z</dcterms:modified>
</cp:coreProperties>
</file>